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2" r:id="rId10"/>
    <p:sldId id="265" r:id="rId11"/>
    <p:sldId id="264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(Cr)</c:v>
                </c:pt>
              </c:strCache>
            </c:strRef>
          </c:tx>
          <c:spPr>
            <a:solidFill>
              <a:srgbClr val="E2A23B"/>
            </a:solidFill>
            <a:effectLst/>
          </c:spPr>
          <c:invertIfNegative val="0"/>
          <c:dLbls>
            <c:numFmt formatCode="&quot;₹&quot;0.0&quot; Cr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6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Workforce
Optimization</c:v>
                </c:pt>
                <c:pt idx="1">
                  <c:v>Plate Mill
Capacity</c:v>
                </c:pt>
                <c:pt idx="2">
                  <c:v>OEE &amp; SMED</c:v>
                </c:pt>
                <c:pt idx="3">
                  <c:v>Lead Time
Reduction</c:v>
                </c:pt>
                <c:pt idx="4">
                  <c:v>Layout
Optimization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18.72</c:v>
                </c:pt>
                <c:pt idx="1">
                  <c:v>18</c:v>
                </c:pt>
                <c:pt idx="2">
                  <c:v>3.5</c:v>
                </c:pt>
                <c:pt idx="3">
                  <c:v>2</c:v>
                </c:pt>
                <c:pt idx="4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CE-43DA-8765-79D964BE1E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6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6350" cap="flat">
              <a:solidFill>
                <a:srgbClr val="DC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4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6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3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</c:v>
                </c:pt>
              </c:strCache>
            </c:strRef>
          </c:tx>
          <c:spPr>
            <a:solidFill>
              <a:srgbClr val="C95B5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03-42A4-BE35-2511313605FC}"/>
              </c:ext>
            </c:extLst>
          </c:dPt>
          <c:dPt>
            <c:idx val="1"/>
            <c:invertIfNegative val="0"/>
            <c:bubble3D val="0"/>
            <c:spPr>
              <a:solidFill>
                <a:srgbClr val="1F9E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03-42A4-BE35-2511313605F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6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03-42A4-BE35-2511313605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626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3F6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3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A23B"/>
              </a:solidFill>
              <a:ln w="25400" cap="flat">
                <a:solidFill>
                  <a:srgbClr val="F3F6F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62C-44C0-977C-2AF07803BEC6}"/>
              </c:ext>
            </c:extLst>
          </c:dPt>
          <c:dPt>
            <c:idx val="1"/>
            <c:bubble3D val="0"/>
            <c:spPr>
              <a:solidFill>
                <a:srgbClr val="DCE4EE"/>
              </a:solidFill>
              <a:ln w="25400" cap="flat">
                <a:solidFill>
                  <a:srgbClr val="F3F6F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62C-44C0-977C-2AF07803BEC6}"/>
              </c:ext>
            </c:extLst>
          </c:dPt>
          <c:cat>
            <c:strRef>
              <c:f>Sheet1!$A$2:$A$3</c:f>
              <c:strCache>
                <c:ptCount val="2"/>
                <c:pt idx="0">
                  <c:v>Improvement opportunity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2C-44C0-977C-2AF07803B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Operators</c:v>
                </c:pt>
              </c:strCache>
            </c:strRef>
          </c:tx>
          <c:spPr>
            <a:solidFill>
              <a:srgbClr val="C95B5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39-4F78-9E34-D7030D2C6D8D}"/>
              </c:ext>
            </c:extLst>
          </c:dPt>
          <c:dPt>
            <c:idx val="1"/>
            <c:invertIfNegative val="0"/>
            <c:bubble3D val="0"/>
            <c:spPr>
              <a:solidFill>
                <a:srgbClr val="1F9E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39-4F78-9E34-D7030D2C6D8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6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2345</c:v>
                </c:pt>
                <c:pt idx="1">
                  <c:v>1524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39-4F78-9E34-D7030D2C6D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626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3F6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3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248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73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hart" Target="../charts/char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E2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CONSULTING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993392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Unlocking Hidden Capacity,</a:t>
            </a:r>
            <a:endParaRPr lang="en-US" sz="4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&amp; Profitability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658368" y="39136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operational losses into measurable EBITDA — improving profitability.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1133856" y="5806440"/>
            <a:ext cx="502920" cy="0"/>
          </a:xfrm>
          <a:prstGeom prst="line">
            <a:avLst/>
          </a:prstGeom>
          <a:noFill/>
          <a:ln w="27940">
            <a:solidFill>
              <a:srgbClr val="E2A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115568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 </a:t>
            </a:r>
            <a:r>
              <a:rPr lang="en-US" sz="120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Operational Excellence Consultant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32520" y="1783080"/>
            <a:ext cx="2971800" cy="1078992"/>
          </a:xfrm>
          <a:prstGeom prst="roundRect">
            <a:avLst>
              <a:gd name="adj" fmla="val 7627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  <a:effectLst>
            <a:outerShdw blurRad="114300" dist="38100" dir="5400000" algn="bl" rotWithShape="0">
              <a:srgbClr val="0E2A47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915400" y="19293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₹43.42 Cr+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915400" y="24597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created &amp; identified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732520" y="3063240"/>
            <a:ext cx="2971800" cy="1078992"/>
          </a:xfrm>
          <a:prstGeom prst="roundRect">
            <a:avLst>
              <a:gd name="adj" fmla="val 7627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  <a:effectLst>
            <a:outerShdw blurRad="114300" dist="38100" dir="5400000" algn="bl" rotWithShape="0">
              <a:srgbClr val="0E2A47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915400" y="32095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9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 – 50x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915400" y="37398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client ROI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4343400"/>
            <a:ext cx="2971800" cy="1078992"/>
          </a:xfrm>
          <a:prstGeom prst="roundRect">
            <a:avLst>
              <a:gd name="adj" fmla="val 7627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  <a:effectLst>
            <a:outerShdw blurRad="114300" dist="38100" dir="5400000" algn="bl" rotWithShape="0">
              <a:srgbClr val="0E2A47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915400" y="44897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F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 months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8915400" y="50200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payback period</a:t>
            </a:r>
            <a:endParaRPr lang="en-US" sz="1050" dirty="0"/>
          </a:p>
        </p:txBody>
      </p:sp>
      <p:pic>
        <p:nvPicPr>
          <p:cNvPr id="17" name="TPL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04" y="6369429"/>
            <a:ext cx="630376" cy="3766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factories are quietly leaving profit on the 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losses rarely show up in the P&amp;L as a single line — they hide inside low utilisation, excess effort, and slow flow. They are recoverable, and usually without buying new machines.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36758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5528" y="2999232"/>
            <a:ext cx="786384" cy="786384"/>
          </a:xfrm>
          <a:prstGeom prst="ellipse">
            <a:avLst/>
          </a:prstGeom>
          <a:solidFill>
            <a:srgbClr val="E2A23B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52" y="3211556"/>
            <a:ext cx="361737" cy="3617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391363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95528" y="45354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effective OEE on lines that look 'fully loaded'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53128" y="2697480"/>
            <a:ext cx="36758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45736" y="2999232"/>
            <a:ext cx="786384" cy="786384"/>
          </a:xfrm>
          <a:prstGeom prst="ellipse">
            <a:avLst/>
          </a:prstGeom>
          <a:solidFill>
            <a:srgbClr val="1F9E78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060" y="3211556"/>
            <a:ext cx="361737" cy="3617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5736" y="391363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15–35%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745736" y="45354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 effort recoverable through balancing &amp; standard work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403336" y="2697480"/>
            <a:ext cx="36758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695944" y="2999232"/>
            <a:ext cx="786384" cy="786384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8268" y="3211556"/>
            <a:ext cx="361737" cy="3617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95944" y="391363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20–40%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8695944" y="45354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compression possible by fixing flow, not adding capacity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the losses exist — it is how much profit they are costing you right now.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23" name="TPL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hidden losses that erode profitability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0662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889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0664" y="2002536"/>
            <a:ext cx="585216" cy="585216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72" y="2160544"/>
            <a:ext cx="269199" cy="2691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3896" y="2020824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OEE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0664" y="269748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performance &amp; quality losses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74136" y="1783080"/>
            <a:ext cx="270662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889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611880" y="2002536"/>
            <a:ext cx="585216" cy="585216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888" y="2160544"/>
            <a:ext cx="269199" cy="2691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25112" y="2020824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Manpower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269748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lines &amp; non–value-added effort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45352" y="1783080"/>
            <a:ext cx="270662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889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83096" y="2002536"/>
            <a:ext cx="585216" cy="585216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104" y="2160544"/>
            <a:ext cx="269199" cy="2691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96328" y="2020824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Lead Times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83096" y="269748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flow and poor customer response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16568" y="1783080"/>
            <a:ext cx="270662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889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354312" y="2002536"/>
            <a:ext cx="585216" cy="585216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2320" y="2160544"/>
            <a:ext cx="269199" cy="2691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67544" y="2020824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Material Flow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54312" y="2697480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movement and handling waste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3776472"/>
            <a:ext cx="270662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889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40664" y="3995928"/>
            <a:ext cx="585216" cy="585216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672" y="4153936"/>
            <a:ext cx="269199" cy="2691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53896" y="4014216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Constraints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40664" y="4690872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throttling throughput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74136" y="3776472"/>
            <a:ext cx="270662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889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3611880" y="3995928"/>
            <a:ext cx="585216" cy="585216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9888" y="4153936"/>
            <a:ext cx="269199" cy="26919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325112" y="4014216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Inventory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11880" y="4690872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locked on the floor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45352" y="3776472"/>
            <a:ext cx="270662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889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6483096" y="3995928"/>
            <a:ext cx="585216" cy="585216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104" y="4153936"/>
            <a:ext cx="269199" cy="26919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96328" y="4014216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Losses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483096" y="4690872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and reactive maintenance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116568" y="3776472"/>
            <a:ext cx="2706624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889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9354312" y="3995928"/>
            <a:ext cx="585216" cy="585216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2320" y="4153936"/>
            <a:ext cx="269199" cy="26919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067544" y="4014216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Changeover Losses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354312" y="4690872"/>
            <a:ext cx="2249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setups stealing productive hours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10515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 Consulting identifies and removes these losses — converting them into recovered capacity, lower cost and higher EBITDA.</a:t>
            </a:r>
            <a:endParaRPr lang="en-US" sz="1350" dirty="0"/>
          </a:p>
        </p:txBody>
      </p:sp>
      <p:sp>
        <p:nvSpPr>
          <p:cNvPr id="46" name="Text 36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45" name="TPL Logo">
            <a:extLst>
              <a:ext uri="{FF2B5EF4-FFF2-40B4-BE49-F238E27FC236}">
                <a16:creationId xmlns:a16="http://schemas.microsoft.com/office/drawing/2014/main" id="{95F2FC8A-12A7-624A-CC0E-C5494BDD6E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E2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profit leakage to profit recovery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E29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DRAINS PROFIT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56332"/>
            <a:ext cx="4892040" cy="548640"/>
          </a:xfrm>
          <a:prstGeom prst="roundRect">
            <a:avLst>
              <a:gd name="adj" fmla="val 8333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26563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Losses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00984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33009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45636"/>
            <a:ext cx="4617720" cy="548640"/>
          </a:xfrm>
          <a:prstGeom prst="roundRect">
            <a:avLst>
              <a:gd name="adj" fmla="val 8333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394563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Manpower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90288"/>
            <a:ext cx="4480560" cy="548640"/>
          </a:xfrm>
          <a:prstGeom prst="roundRect">
            <a:avLst>
              <a:gd name="adj" fmla="val 8333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45902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34940"/>
            <a:ext cx="4343400" cy="548640"/>
          </a:xfrm>
          <a:prstGeom prst="roundRect">
            <a:avLst>
              <a:gd name="adj" fmla="val 8333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1248" y="52349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&amp; Rework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879592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C95B53"/>
          </a:solidFill>
          <a:ln w="12700">
            <a:solidFill>
              <a:srgbClr val="C95B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1248" y="5879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Profit Leakage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79008" y="3703320"/>
            <a:ext cx="658368" cy="658368"/>
          </a:xfrm>
          <a:prstGeom prst="ellipse">
            <a:avLst/>
          </a:prstGeom>
          <a:solidFill>
            <a:srgbClr val="E2A23B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767" y="3881079"/>
            <a:ext cx="302849" cy="30284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7512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dirty="0">
                <a:solidFill>
                  <a:srgbClr val="9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TPL RESTORES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99832" y="2148840"/>
            <a:ext cx="3931920" cy="603504"/>
          </a:xfrm>
          <a:prstGeom prst="roundRect">
            <a:avLst>
              <a:gd name="adj" fmla="val 7576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982712" y="21488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 Intervention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635240" y="2880360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818120" y="2880360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Recovery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470648" y="3611880"/>
            <a:ext cx="4261104" cy="603504"/>
          </a:xfrm>
          <a:prstGeom prst="roundRect">
            <a:avLst>
              <a:gd name="adj" fmla="val 7576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653528" y="3611880"/>
            <a:ext cx="3712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Capacity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306056" y="4343400"/>
            <a:ext cx="4425696" cy="603504"/>
          </a:xfrm>
          <a:prstGeom prst="roundRect">
            <a:avLst>
              <a:gd name="adj" fmla="val 7576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488936" y="4343400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Productivity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141464" y="5074920"/>
            <a:ext cx="4590288" cy="603504"/>
          </a:xfrm>
          <a:prstGeom prst="roundRect">
            <a:avLst>
              <a:gd name="adj" fmla="val 7576"/>
            </a:avLst>
          </a:prstGeom>
          <a:solidFill>
            <a:srgbClr val="163C5E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324344" y="5074920"/>
            <a:ext cx="4041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976872" y="5806440"/>
            <a:ext cx="4754880" cy="603504"/>
          </a:xfrm>
          <a:prstGeom prst="roundRect">
            <a:avLst>
              <a:gd name="adj" fmla="val 7576"/>
            </a:avLst>
          </a:prstGeom>
          <a:solidFill>
            <a:srgbClr val="1F9E78"/>
          </a:solidFill>
          <a:ln w="12700">
            <a:solidFill>
              <a:srgbClr val="1F9E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159752" y="58064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EBITDA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34" name="TPL Logo">
            <a:extLst>
              <a:ext uri="{FF2B5EF4-FFF2-40B4-BE49-F238E27FC236}">
                <a16:creationId xmlns:a16="http://schemas.microsoft.com/office/drawing/2014/main" id="{8FDD3C8F-B62D-F591-2803-7CCF72227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04" y="6369429"/>
            <a:ext cx="630376" cy="3766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created &amp; identified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E2A23B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30063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₹43.42 Cr+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85800" y="382219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created and identified across engagements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617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with minimal capital investment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776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BY ENGAGEMENT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839222746"/>
              </p:ext>
            </p:extLst>
          </p:nvPr>
        </p:nvGraphicFramePr>
        <p:xfrm>
          <a:off x="3931920" y="2148840"/>
          <a:ext cx="7772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12" name="TPL Logo">
            <a:extLst>
              <a:ext uri="{FF2B5EF4-FFF2-40B4-BE49-F238E27FC236}">
                <a16:creationId xmlns:a16="http://schemas.microsoft.com/office/drawing/2014/main" id="{5DBF09B1-CF78-5EEB-3E70-4CBD82025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convert operational losses into profit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706624" cy="324612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952" y="2203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40280" y="2240280"/>
            <a:ext cx="713232" cy="713232"/>
          </a:xfrm>
          <a:prstGeom prst="ellipse">
            <a:avLst/>
          </a:prstGeom>
          <a:solidFill>
            <a:srgbClr val="E2A23B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853" y="2432853"/>
            <a:ext cx="328087" cy="3280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32004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58952" y="3749040"/>
            <a:ext cx="2231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Shopfloor study, DILO, OEE &amp; bottleneck analysis to locate the real losses.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3488436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74136" y="1965960"/>
            <a:ext cx="2706624" cy="324612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30168" y="2203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5111496" y="2240280"/>
            <a:ext cx="713232" cy="713232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069" y="2432853"/>
            <a:ext cx="328087" cy="3280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0168" y="32004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630168" y="3749040"/>
            <a:ext cx="2231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every loss into rupees — capacity, manpower, lead time, working capital.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348843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45352" y="1965960"/>
            <a:ext cx="2706624" cy="324612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6501384" y="2203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4"/>
          <p:cNvSpPr/>
          <p:nvPr/>
        </p:nvSpPr>
        <p:spPr>
          <a:xfrm>
            <a:off x="7982712" y="2240280"/>
            <a:ext cx="713232" cy="713232"/>
          </a:xfrm>
          <a:prstGeom prst="ellipse">
            <a:avLst/>
          </a:prstGeom>
          <a:solidFill>
            <a:srgbClr val="1F9E78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5285" y="2432853"/>
            <a:ext cx="328087" cy="32808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01384" y="32004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501384" y="3749040"/>
            <a:ext cx="2231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implementation with your teams: SMED, line balancing, flow &amp; standards.</a:t>
            </a:r>
            <a:endParaRPr lang="en-US" sz="12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3488436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16568" y="1965960"/>
            <a:ext cx="2706624" cy="324612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18"/>
          <p:cNvSpPr/>
          <p:nvPr/>
        </p:nvSpPr>
        <p:spPr>
          <a:xfrm>
            <a:off x="9372600" y="2203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Shape 19"/>
          <p:cNvSpPr/>
          <p:nvPr/>
        </p:nvSpPr>
        <p:spPr>
          <a:xfrm>
            <a:off x="10853928" y="2240280"/>
            <a:ext cx="713232" cy="713232"/>
          </a:xfrm>
          <a:prstGeom prst="ellipse">
            <a:avLst/>
          </a:prstGeom>
          <a:solidFill>
            <a:srgbClr val="C8862A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6501" y="2432853"/>
            <a:ext cx="328087" cy="32808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372600" y="32004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9372600" y="3749040"/>
            <a:ext cx="2231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work, visual management and KPIs that lock the gains in place.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502920" y="5532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theory for its own sake — every action is tied to a measurable financial outcome.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32" name="TPL Logo">
            <a:extLst>
              <a:ext uri="{FF2B5EF4-FFF2-40B4-BE49-F238E27FC236}">
                <a16:creationId xmlns:a16="http://schemas.microsoft.com/office/drawing/2014/main" id="{759734BA-AF7A-FEC1-86D8-7CEB9A07F9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Automobile &amp; Electronics Manufacturer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15400" y="566928"/>
            <a:ext cx="2788920" cy="841248"/>
          </a:xfrm>
          <a:prstGeom prst="roundRect">
            <a:avLst>
              <a:gd name="adj" fmla="val 10870"/>
            </a:avLst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70848" y="6766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070848" y="896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 Cr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8096" y="1929384"/>
            <a:ext cx="512064" cy="512064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2067641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9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" y="25328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material flow and layout inefficiencies caused excess movement.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8096" y="3474720"/>
            <a:ext cx="457200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68096" y="3657600"/>
            <a:ext cx="512064" cy="512064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3795857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1E4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4270248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 diagram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flow analysis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layout design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89788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MATERIAL FLOW — BEFORE vs AFTER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852160" y="2194560"/>
            <a:ext cx="2788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5852160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tangled flow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355080" y="3154680"/>
            <a:ext cx="1508760" cy="1005840"/>
          </a:xfrm>
          <a:prstGeom prst="line">
            <a:avLst/>
          </a:prstGeom>
          <a:noFill/>
          <a:ln w="22225">
            <a:solidFill>
              <a:srgbClr val="C95B5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 flipV="1">
            <a:off x="7863840" y="3200400"/>
            <a:ext cx="137160" cy="960120"/>
          </a:xfrm>
          <a:prstGeom prst="line">
            <a:avLst/>
          </a:prstGeom>
          <a:noFill/>
          <a:ln w="22225">
            <a:solidFill>
              <a:srgbClr val="C95B5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 flipH="1">
            <a:off x="7178040" y="3200400"/>
            <a:ext cx="822960" cy="411480"/>
          </a:xfrm>
          <a:prstGeom prst="line">
            <a:avLst/>
          </a:prstGeom>
          <a:noFill/>
          <a:ln w="22225">
            <a:solidFill>
              <a:srgbClr val="C95B5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 flipH="1">
            <a:off x="6492240" y="3611880"/>
            <a:ext cx="685800" cy="502920"/>
          </a:xfrm>
          <a:prstGeom prst="line">
            <a:avLst/>
          </a:prstGeom>
          <a:noFill/>
          <a:ln w="22225">
            <a:solidFill>
              <a:srgbClr val="C95B5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272784" y="3072384"/>
            <a:ext cx="164592" cy="164592"/>
          </a:xfrm>
          <a:prstGeom prst="ellipse">
            <a:avLst/>
          </a:prstGeom>
          <a:solidFill>
            <a:srgbClr val="C95B5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7918704" y="3118104"/>
            <a:ext cx="164592" cy="164592"/>
          </a:xfrm>
          <a:prstGeom prst="ellipse">
            <a:avLst/>
          </a:prstGeom>
          <a:solidFill>
            <a:srgbClr val="C95B5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409944" y="4032504"/>
            <a:ext cx="164592" cy="164592"/>
          </a:xfrm>
          <a:prstGeom prst="ellipse">
            <a:avLst/>
          </a:prstGeom>
          <a:solidFill>
            <a:srgbClr val="C95B5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7781544" y="4078224"/>
            <a:ext cx="164592" cy="164592"/>
          </a:xfrm>
          <a:prstGeom prst="ellipse">
            <a:avLst/>
          </a:prstGeom>
          <a:solidFill>
            <a:srgbClr val="C95B5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7095744" y="3529584"/>
            <a:ext cx="164592" cy="164592"/>
          </a:xfrm>
          <a:prstGeom prst="ellipse">
            <a:avLst/>
          </a:prstGeom>
          <a:solidFill>
            <a:srgbClr val="C95B5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8915400" y="2194560"/>
            <a:ext cx="2788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8915400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lean flow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9418320" y="3154680"/>
            <a:ext cx="822960" cy="457200"/>
          </a:xfrm>
          <a:prstGeom prst="line">
            <a:avLst/>
          </a:prstGeom>
          <a:noFill/>
          <a:ln w="22225">
            <a:solidFill>
              <a:srgbClr val="1F9E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 flipV="1">
            <a:off x="10241280" y="3200400"/>
            <a:ext cx="822960" cy="411480"/>
          </a:xfrm>
          <a:prstGeom prst="line">
            <a:avLst/>
          </a:prstGeom>
          <a:noFill/>
          <a:ln w="22225">
            <a:solidFill>
              <a:srgbClr val="1F9E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 flipH="1">
            <a:off x="10927080" y="3200400"/>
            <a:ext cx="137160" cy="960120"/>
          </a:xfrm>
          <a:prstGeom prst="line">
            <a:avLst/>
          </a:prstGeom>
          <a:noFill/>
          <a:ln w="22225">
            <a:solidFill>
              <a:srgbClr val="1F9E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 flipH="1" flipV="1">
            <a:off x="9555480" y="4114800"/>
            <a:ext cx="1371600" cy="45720"/>
          </a:xfrm>
          <a:prstGeom prst="line">
            <a:avLst/>
          </a:prstGeom>
          <a:noFill/>
          <a:ln w="22225">
            <a:solidFill>
              <a:srgbClr val="1F9E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1"/>
          <p:cNvSpPr/>
          <p:nvPr/>
        </p:nvSpPr>
        <p:spPr>
          <a:xfrm>
            <a:off x="9336024" y="3072384"/>
            <a:ext cx="164592" cy="164592"/>
          </a:xfrm>
          <a:prstGeom prst="ellipse">
            <a:avLst/>
          </a:prstGeom>
          <a:solidFill>
            <a:srgbClr val="1F9E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10981944" y="3118104"/>
            <a:ext cx="164592" cy="164592"/>
          </a:xfrm>
          <a:prstGeom prst="ellipse">
            <a:avLst/>
          </a:prstGeom>
          <a:solidFill>
            <a:srgbClr val="1F9E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9473184" y="4032504"/>
            <a:ext cx="164592" cy="164592"/>
          </a:xfrm>
          <a:prstGeom prst="ellipse">
            <a:avLst/>
          </a:prstGeom>
          <a:solidFill>
            <a:srgbClr val="1F9E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10844784" y="4078224"/>
            <a:ext cx="164592" cy="164592"/>
          </a:xfrm>
          <a:prstGeom prst="ellipse">
            <a:avLst/>
          </a:prstGeom>
          <a:solidFill>
            <a:srgbClr val="1F9E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5"/>
          <p:cNvSpPr/>
          <p:nvPr/>
        </p:nvSpPr>
        <p:spPr>
          <a:xfrm>
            <a:off x="10158984" y="3529584"/>
            <a:ext cx="164592" cy="164592"/>
          </a:xfrm>
          <a:prstGeom prst="ellipse">
            <a:avLst/>
          </a:prstGeom>
          <a:solidFill>
            <a:srgbClr val="1F9E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6"/>
          <p:cNvSpPr/>
          <p:nvPr/>
        </p:nvSpPr>
        <p:spPr>
          <a:xfrm>
            <a:off x="5852160" y="4709160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9F0F8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5943600" y="4864608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9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400" dirty="0"/>
          </a:p>
        </p:txBody>
      </p:sp>
      <p:sp>
        <p:nvSpPr>
          <p:cNvPr id="42" name="Text 38"/>
          <p:cNvSpPr/>
          <p:nvPr/>
        </p:nvSpPr>
        <p:spPr>
          <a:xfrm>
            <a:off x="5943600" y="544068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movement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7891272" y="4709160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9F0F8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7982712" y="4864608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7,000 sq.ft</a:t>
            </a:r>
            <a:endParaRPr lang="en-US" sz="1800" dirty="0"/>
          </a:p>
        </p:txBody>
      </p:sp>
      <p:sp>
        <p:nvSpPr>
          <p:cNvPr id="45" name="Text 41"/>
          <p:cNvSpPr/>
          <p:nvPr/>
        </p:nvSpPr>
        <p:spPr>
          <a:xfrm>
            <a:off x="7982712" y="544068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space optimised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9930384" y="4709160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9F0F8"/>
          </a:solidFill>
          <a:ln w="12700">
            <a:solidFill>
              <a:srgbClr val="DCE4EE"/>
            </a:solidFill>
            <a:prstDash val="solid"/>
          </a:ln>
          <a:effectLst>
            <a:outerShdw blurRad="762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10021824" y="4864608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 Cr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10021824" y="544068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impact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49" name="TPL Logo">
            <a:extLst>
              <a:ext uri="{FF2B5EF4-FFF2-40B4-BE49-F238E27FC236}">
                <a16:creationId xmlns:a16="http://schemas.microsoft.com/office/drawing/2014/main" id="{ABD4E2EA-3CBB-7394-8C09-32DD098BC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48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FMCG Manufacturer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15400" y="566928"/>
            <a:ext cx="2788920" cy="841248"/>
          </a:xfrm>
          <a:prstGeom prst="roundRect">
            <a:avLst>
              <a:gd name="adj" fmla="val 10870"/>
            </a:avLst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70848" y="6766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070848" y="896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₹2.0 Cr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8096" y="1929384"/>
            <a:ext cx="512064" cy="512064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2067641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9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" y="25328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lead times and slow customer response were tying up working capital.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8096" y="3474720"/>
            <a:ext cx="457200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68096" y="3657600"/>
            <a:ext cx="512064" cy="512064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3795857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1E4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4270248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Mapping (VSM)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analysis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identification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optimisation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89788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TRANSFORMATION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852160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5852160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996" y="2587752"/>
            <a:ext cx="173736" cy="1737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86016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6986016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852" y="2587752"/>
            <a:ext cx="173736" cy="17373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119872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8119872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1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708" y="2587752"/>
            <a:ext cx="173736" cy="17373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253728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9253728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11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564" y="2587752"/>
            <a:ext cx="173736" cy="173736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10387584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10387584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5852160" y="3246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removed at the production step to unblock end-to-end flow.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852160" y="3840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ORDER-TO-DISPATCH LEAD TIME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852160" y="4224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766560" y="4242816"/>
            <a:ext cx="4480560" cy="329184"/>
          </a:xfrm>
          <a:prstGeom prst="roundRect">
            <a:avLst>
              <a:gd name="adj" fmla="val 11111"/>
            </a:avLst>
          </a:prstGeom>
          <a:solidFill>
            <a:srgbClr val="C95B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/>
          <p:nvPr/>
        </p:nvSpPr>
        <p:spPr>
          <a:xfrm>
            <a:off x="10469880" y="424281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852160" y="47183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766560" y="4736592"/>
            <a:ext cx="3200400" cy="329184"/>
          </a:xfrm>
          <a:prstGeom prst="roundRect">
            <a:avLst>
              <a:gd name="adj" fmla="val 11111"/>
            </a:avLst>
          </a:prstGeom>
          <a:solidFill>
            <a:srgbClr val="1F9E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1"/>
          <p:cNvSpPr/>
          <p:nvPr/>
        </p:nvSpPr>
        <p:spPr>
          <a:xfrm>
            <a:off x="9281160" y="47365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days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852160" y="534924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E9F0F8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6080760" y="53492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</a:t>
            </a: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lead time — faster response, lower inventory</a:t>
            </a:r>
            <a:endParaRPr lang="en-US" sz="2000" dirty="0"/>
          </a:p>
        </p:txBody>
      </p:sp>
      <p:sp>
        <p:nvSpPr>
          <p:cNvPr id="43" name="Text 35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42" name="TPL Logo">
            <a:extLst>
              <a:ext uri="{FF2B5EF4-FFF2-40B4-BE49-F238E27FC236}">
                <a16:creationId xmlns:a16="http://schemas.microsoft.com/office/drawing/2014/main" id="{B8BCB311-D5C9-B6BE-7131-A8137C628D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FIBC &amp; Bulk Bag Manufacturer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15400" y="566928"/>
            <a:ext cx="2788920" cy="841248"/>
          </a:xfrm>
          <a:prstGeom prst="roundRect">
            <a:avLst>
              <a:gd name="adj" fmla="val 10870"/>
            </a:avLst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70848" y="6766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070848" y="896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₹3.5 Cr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8096" y="1929384"/>
            <a:ext cx="512064" cy="512064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2067641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9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" y="25328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OEE and long changeover times were capping output on critical lines.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8096" y="3474720"/>
            <a:ext cx="457200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68096" y="3657600"/>
            <a:ext cx="512064" cy="512064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3795857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1E4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4270248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loss analysis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Productive Maintenance (TPM)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 for rapid changeovers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changeover procedures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8978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IMPROVEMENT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3909720350"/>
              </p:ext>
            </p:extLst>
          </p:nvPr>
        </p:nvGraphicFramePr>
        <p:xfrm>
          <a:off x="5806440" y="2103120"/>
          <a:ext cx="5943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Shape 14"/>
          <p:cNvSpPr/>
          <p:nvPr/>
        </p:nvSpPr>
        <p:spPr>
          <a:xfrm>
            <a:off x="5806440" y="4617720"/>
            <a:ext cx="28346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8932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CHANGEOVER TIME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989320" y="50749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trike="sngStrike" dirty="0">
                <a:solidFill>
                  <a:srgbClr val="C95B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hrs</a:t>
            </a:r>
            <a:r>
              <a:rPr lang="en-US" sz="1600" dirty="0">
                <a:solidFill>
                  <a:srgbClr val="6274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2200" b="1" dirty="0">
                <a:solidFill>
                  <a:srgbClr val="1F9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 hrs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8869680" y="4617720"/>
            <a:ext cx="2834640" cy="1325880"/>
          </a:xfrm>
          <a:prstGeom prst="roundRect">
            <a:avLst>
              <a:gd name="adj" fmla="val 6207"/>
            </a:avLst>
          </a:prstGeom>
          <a:solidFill>
            <a:srgbClr val="E9F0F8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905256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UPLIFT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9052560" y="5029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9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+23 %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25" name="TPL Logo">
            <a:extLst>
              <a:ext uri="{FF2B5EF4-FFF2-40B4-BE49-F238E27FC236}">
                <a16:creationId xmlns:a16="http://schemas.microsoft.com/office/drawing/2014/main" id="{DF4DFC0A-78D3-33C0-61C7-5EF01143A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Integrated Steel Manufacturer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15400" y="566928"/>
            <a:ext cx="2788920" cy="841248"/>
          </a:xfrm>
          <a:prstGeom prst="roundRect">
            <a:avLst>
              <a:gd name="adj" fmla="val 10870"/>
            </a:avLst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70848" y="6766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070848" y="896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₹18.0 Cr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8096" y="1929384"/>
            <a:ext cx="512064" cy="512064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2067641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9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" y="25328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constraints in the Plate Mill were limiting throughput and sales.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8096" y="3474720"/>
            <a:ext cx="457200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68096" y="3657600"/>
            <a:ext cx="512064" cy="512064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3795857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1E4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4270248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DILO study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analysis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study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89788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MILL PROCESS &amp; BOTTLENECK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852160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5852160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</a:t>
            </a:r>
            <a:endParaRPr lang="en-US" sz="11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996" y="2587752"/>
            <a:ext cx="173736" cy="1737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86016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6986016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endParaRPr lang="en-US" sz="11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852" y="2587752"/>
            <a:ext cx="173736" cy="17373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119872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C95B53"/>
          </a:solidFill>
          <a:ln w="12700">
            <a:solidFill>
              <a:srgbClr val="C95B53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8119872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028432" y="312724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dirty="0">
                <a:solidFill>
                  <a:srgbClr val="C9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8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708" y="2587752"/>
            <a:ext cx="173736" cy="173736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9253728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9253728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1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564" y="2587752"/>
            <a:ext cx="173736" cy="17373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10387584" y="2240280"/>
            <a:ext cx="96926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63500" dist="25400" dir="5400000" algn="bl" rotWithShape="0">
              <a:srgbClr val="0E2A47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4"/>
          <p:cNvSpPr/>
          <p:nvPr/>
        </p:nvSpPr>
        <p:spPr>
          <a:xfrm>
            <a:off x="10387584" y="22402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150" dirty="0"/>
          </a:p>
        </p:txBody>
      </p:sp>
      <p:graphicFrame>
        <p:nvGraphicFramePr>
          <p:cNvPr id="33" name="Chart 0"/>
          <p:cNvGraphicFramePr/>
          <p:nvPr>
            <p:extLst>
              <p:ext uri="{D42A27DB-BD31-4B8C-83A1-F6EECF244321}">
                <p14:modId xmlns:p14="http://schemas.microsoft.com/office/powerpoint/2010/main" val="854616273"/>
              </p:ext>
            </p:extLst>
          </p:nvPr>
        </p:nvGraphicFramePr>
        <p:xfrm>
          <a:off x="5760720" y="3429000"/>
          <a:ext cx="2743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4" name="Text 25"/>
          <p:cNvSpPr/>
          <p:nvPr/>
        </p:nvSpPr>
        <p:spPr>
          <a:xfrm>
            <a:off x="6446520" y="43708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2600" dirty="0"/>
          </a:p>
        </p:txBody>
      </p:sp>
      <p:sp>
        <p:nvSpPr>
          <p:cNvPr id="35" name="Text 26"/>
          <p:cNvSpPr/>
          <p:nvPr/>
        </p:nvSpPr>
        <p:spPr>
          <a:xfrm>
            <a:off x="644652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8732520" y="3703320"/>
            <a:ext cx="2971800" cy="1874520"/>
          </a:xfrm>
          <a:prstGeom prst="roundRect">
            <a:avLst>
              <a:gd name="adj" fmla="val 4390"/>
            </a:avLst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/>
          <p:nvPr/>
        </p:nvSpPr>
        <p:spPr>
          <a:xfrm>
            <a:off x="8915400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OPPORTUNITY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8915400" y="4160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 Cr</a:t>
            </a:r>
            <a:endParaRPr lang="en-US" sz="3400" dirty="0"/>
          </a:p>
        </p:txBody>
      </p:sp>
      <p:sp>
        <p:nvSpPr>
          <p:cNvPr id="39" name="Text 30"/>
          <p:cNvSpPr/>
          <p:nvPr/>
        </p:nvSpPr>
        <p:spPr>
          <a:xfrm>
            <a:off x="8915400" y="48646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additional throughput value identified — without new capital equipment.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40" name="TPL Logo">
            <a:extLst>
              <a:ext uri="{FF2B5EF4-FFF2-40B4-BE49-F238E27FC236}">
                <a16:creationId xmlns:a16="http://schemas.microsoft.com/office/drawing/2014/main" id="{D7622710-5E2B-75AC-D10D-1C5EC0F9D1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Wire &amp; Cable Manufacturer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15400" y="566928"/>
            <a:ext cx="2788920" cy="841248"/>
          </a:xfrm>
          <a:prstGeom prst="roundRect">
            <a:avLst>
              <a:gd name="adj" fmla="val 10870"/>
            </a:avLst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70848" y="6766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070848" y="896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₹18.72 Cr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0749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8096" y="1929384"/>
            <a:ext cx="512064" cy="512064"/>
          </a:xfrm>
          <a:prstGeom prst="ellipse">
            <a:avLst/>
          </a:prstGeom>
          <a:solidFill>
            <a:srgbClr val="C95B53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2067641"/>
            <a:ext cx="235549" cy="2355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9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" y="25328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manpower and low productivity were inflating cost per unit.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68096" y="3474720"/>
            <a:ext cx="457200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68096" y="3657600"/>
            <a:ext cx="512064" cy="512064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3795857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1E4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4270248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Day-In-the-Life-Of (DILO) study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study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balancing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standardisation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89788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OPTIMISATION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3888713865"/>
              </p:ext>
            </p:extLst>
          </p:nvPr>
        </p:nvGraphicFramePr>
        <p:xfrm>
          <a:off x="5806440" y="2103120"/>
          <a:ext cx="59436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Shape 14"/>
          <p:cNvSpPr/>
          <p:nvPr/>
        </p:nvSpPr>
        <p:spPr>
          <a:xfrm>
            <a:off x="5852160" y="4709160"/>
            <a:ext cx="189280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61888" y="4864608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821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5961888" y="546811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optimised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836408" y="4709160"/>
            <a:ext cx="189280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7946136" y="4864608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9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7946136" y="546811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reduction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820656" y="4709160"/>
            <a:ext cx="189280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9930384" y="4864608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₹18.72 Cr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9930384" y="546811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28" name="TPL Logo">
            <a:extLst>
              <a:ext uri="{FF2B5EF4-FFF2-40B4-BE49-F238E27FC236}">
                <a16:creationId xmlns:a16="http://schemas.microsoft.com/office/drawing/2014/main" id="{543CB6B6-8841-40A0-BCEE-4588E591B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of value at a glance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37490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OEE Improvement &amp; SMED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274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FIBC &amp; Bulk Bag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OEE 37% → 60%; changeover 12 → 7.4 hrs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88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₹3.5 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Reduction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274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faster order-to-dispatch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88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 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Optimization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274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&amp; Cable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2,345 → 1,524 operators (35%)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88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₹18.72 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Mill 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274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Steel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 throughput opportunity identified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88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₹18.0 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Optimization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274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&amp; Electronics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less movement; 7,000 sq.ft freed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C88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 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06440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344168" y="58064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CREATED &amp; IDENTIFIED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58064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₹43.42 Cr+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4" name="TPL Logo">
            <a:extLst>
              <a:ext uri="{FF2B5EF4-FFF2-40B4-BE49-F238E27FC236}">
                <a16:creationId xmlns:a16="http://schemas.microsoft.com/office/drawing/2014/main" id="{0342C9B8-6E60-F034-FDE8-BD845353A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manufacturers choose PL Consulting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210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713232" cy="713232"/>
          </a:xfrm>
          <a:prstGeom prst="ellipse">
            <a:avLst/>
          </a:prstGeom>
          <a:solidFill>
            <a:srgbClr val="E2A23B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13" y="229569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55064" y="208483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₹43+ Cr value created &amp; identified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292608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measured in rupees, not slideware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8536" y="1828800"/>
            <a:ext cx="36210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62856" y="2103120"/>
            <a:ext cx="713232" cy="713232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429" y="2295693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08483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shopfloor execution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292608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on the floor, not just advise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74152" y="1828800"/>
            <a:ext cx="36210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48472" y="2103120"/>
            <a:ext cx="713232" cy="713232"/>
          </a:xfrm>
          <a:prstGeom prst="ellipse">
            <a:avLst/>
          </a:prstGeom>
          <a:solidFill>
            <a:srgbClr val="1F9E78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045" y="2295693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6296" y="208483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problem solving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292608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grounded in study and measurement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867912"/>
            <a:ext cx="36210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77240" y="4142232"/>
            <a:ext cx="713232" cy="713232"/>
          </a:xfrm>
          <a:prstGeom prst="ellipse">
            <a:avLst/>
          </a:prstGeom>
          <a:solidFill>
            <a:srgbClr val="C8862A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813" y="4334805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55064" y="4123944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Six Sigma methodology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95528" y="496519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structured improvement discipline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88536" y="3867912"/>
            <a:ext cx="36210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62856" y="4142232"/>
            <a:ext cx="713232" cy="713232"/>
          </a:xfrm>
          <a:prstGeom prst="ellipse">
            <a:avLst/>
          </a:prstGeom>
          <a:solidFill>
            <a:srgbClr val="1E4D74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429" y="4334805"/>
            <a:ext cx="328087" cy="3280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123944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domain expertise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81144" y="496519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operational know-how across sectors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74152" y="3867912"/>
            <a:ext cx="36210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blurRad="114300" dist="38100" dir="5400000" algn="bl" rotWithShape="0">
              <a:srgbClr val="0E2A47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348472" y="4142232"/>
            <a:ext cx="713232" cy="713232"/>
          </a:xfrm>
          <a:prstGeom prst="ellipse">
            <a:avLst/>
          </a:prstGeom>
          <a:solidFill>
            <a:srgbClr val="16876A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1045" y="4334805"/>
            <a:ext cx="328087" cy="3280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26296" y="4123944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results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496519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locked in with standards &amp; KPIs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34" name="TPL Logo">
            <a:extLst>
              <a:ext uri="{FF2B5EF4-FFF2-40B4-BE49-F238E27FC236}">
                <a16:creationId xmlns:a16="http://schemas.microsoft.com/office/drawing/2014/main" id="{896F83A6-1E1A-2EE7-A3C3-5DBE11DB1C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C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low-risk path to recovering profit</a:t>
            </a:r>
            <a:endParaRPr lang="en-US" sz="3200" dirty="0"/>
          </a:p>
        </p:txBody>
      </p:sp>
      <p:sp>
        <p:nvSpPr>
          <p:cNvPr id="37" name="Text 28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B650D349-B797-FAA4-A797-A93673591020}"/>
              </a:ext>
            </a:extLst>
          </p:cNvPr>
          <p:cNvSpPr/>
          <p:nvPr/>
        </p:nvSpPr>
        <p:spPr>
          <a:xfrm>
            <a:off x="1523848" y="2880360"/>
            <a:ext cx="9144000" cy="0"/>
          </a:xfrm>
          <a:prstGeom prst="line">
            <a:avLst/>
          </a:prstGeom>
          <a:noFill/>
          <a:ln w="19050">
            <a:solidFill>
              <a:srgbClr val="C8A0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2F1B455C-3227-5711-125D-95AAC41486D8}"/>
              </a:ext>
            </a:extLst>
          </p:cNvPr>
          <p:cNvSpPr/>
          <p:nvPr/>
        </p:nvSpPr>
        <p:spPr>
          <a:xfrm>
            <a:off x="1066648" y="2423160"/>
            <a:ext cx="914400" cy="914400"/>
          </a:xfrm>
          <a:prstGeom prst="ellipse">
            <a:avLst/>
          </a:prstGeom>
          <a:solidFill>
            <a:srgbClr val="15233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3" name="Image 0" descr="/home/claude/icons/search_white.png">
            <a:extLst>
              <a:ext uri="{FF2B5EF4-FFF2-40B4-BE49-F238E27FC236}">
                <a16:creationId xmlns:a16="http://schemas.microsoft.com/office/drawing/2014/main" id="{A0AA7B4A-57B9-8EDD-5204-15DE173AE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248" y="2651760"/>
            <a:ext cx="457200" cy="457200"/>
          </a:xfrm>
          <a:prstGeom prst="rect">
            <a:avLst/>
          </a:prstGeom>
        </p:spPr>
      </p:pic>
      <p:sp>
        <p:nvSpPr>
          <p:cNvPr id="64" name="Text 6">
            <a:extLst>
              <a:ext uri="{FF2B5EF4-FFF2-40B4-BE49-F238E27FC236}">
                <a16:creationId xmlns:a16="http://schemas.microsoft.com/office/drawing/2014/main" id="{5994A4D8-F950-7FE5-983D-1F06AD121E02}"/>
              </a:ext>
            </a:extLst>
          </p:cNvPr>
          <p:cNvSpPr/>
          <p:nvPr/>
        </p:nvSpPr>
        <p:spPr>
          <a:xfrm>
            <a:off x="481432" y="3703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700" dirty="0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EADADD80-2B5E-FF1B-0F5B-D40C2A510A88}"/>
              </a:ext>
            </a:extLst>
          </p:cNvPr>
          <p:cNvSpPr/>
          <p:nvPr/>
        </p:nvSpPr>
        <p:spPr>
          <a:xfrm>
            <a:off x="527152" y="4192985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Shopfloor study, data capture, DILO &amp; loss mapping</a:t>
            </a:r>
            <a:endParaRPr lang="en-US" sz="1050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B465AF27-8E33-EECB-9678-CE27376C0CC5}"/>
              </a:ext>
            </a:extLst>
          </p:cNvPr>
          <p:cNvSpPr/>
          <p:nvPr/>
        </p:nvSpPr>
        <p:spPr>
          <a:xfrm>
            <a:off x="3352648" y="2423160"/>
            <a:ext cx="914400" cy="914400"/>
          </a:xfrm>
          <a:prstGeom prst="ellipse">
            <a:avLst/>
          </a:prstGeom>
          <a:solidFill>
            <a:srgbClr val="15233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7" name="Image 1" descr="/home/claude/icons/chartbar_white.png">
            <a:extLst>
              <a:ext uri="{FF2B5EF4-FFF2-40B4-BE49-F238E27FC236}">
                <a16:creationId xmlns:a16="http://schemas.microsoft.com/office/drawing/2014/main" id="{EEBD285D-2699-F1A5-0B9A-03B7C80D0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248" y="2651760"/>
            <a:ext cx="457200" cy="457200"/>
          </a:xfrm>
          <a:prstGeom prst="rect">
            <a:avLst/>
          </a:prstGeom>
        </p:spPr>
      </p:pic>
      <p:sp>
        <p:nvSpPr>
          <p:cNvPr id="68" name="Text 10">
            <a:extLst>
              <a:ext uri="{FF2B5EF4-FFF2-40B4-BE49-F238E27FC236}">
                <a16:creationId xmlns:a16="http://schemas.microsoft.com/office/drawing/2014/main" id="{0F109F4B-5C64-0F02-D8C7-E1C9F8F8BEA0}"/>
              </a:ext>
            </a:extLst>
          </p:cNvPr>
          <p:cNvSpPr/>
          <p:nvPr/>
        </p:nvSpPr>
        <p:spPr>
          <a:xfrm>
            <a:off x="2767432" y="34290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A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451E1109-056F-A167-1209-B754D39803D5}"/>
              </a:ext>
            </a:extLst>
          </p:cNvPr>
          <p:cNvSpPr/>
          <p:nvPr/>
        </p:nvSpPr>
        <p:spPr>
          <a:xfrm>
            <a:off x="2767432" y="3703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F71B89E9-4A6F-C3E4-564E-340975E19F68}"/>
              </a:ext>
            </a:extLst>
          </p:cNvPr>
          <p:cNvSpPr/>
          <p:nvPr/>
        </p:nvSpPr>
        <p:spPr>
          <a:xfrm>
            <a:off x="2813152" y="4192985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Root-cause, bottleneck &amp; capacity analysis</a:t>
            </a:r>
            <a:endParaRPr lang="en-US" sz="1050" dirty="0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B9789F26-A3C5-761A-812C-1C98A40980D3}"/>
              </a:ext>
            </a:extLst>
          </p:cNvPr>
          <p:cNvSpPr/>
          <p:nvPr/>
        </p:nvSpPr>
        <p:spPr>
          <a:xfrm>
            <a:off x="5638648" y="2423160"/>
            <a:ext cx="914400" cy="914400"/>
          </a:xfrm>
          <a:prstGeom prst="ellipse">
            <a:avLst/>
          </a:prstGeom>
          <a:solidFill>
            <a:srgbClr val="15233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2" name="Image 2" descr="/home/claude/icons/bulb_white.png">
            <a:extLst>
              <a:ext uri="{FF2B5EF4-FFF2-40B4-BE49-F238E27FC236}">
                <a16:creationId xmlns:a16="http://schemas.microsoft.com/office/drawing/2014/main" id="{7A620024-0993-FCCD-C9F7-01AD99828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248" y="2651760"/>
            <a:ext cx="457200" cy="457200"/>
          </a:xfrm>
          <a:prstGeom prst="rect">
            <a:avLst/>
          </a:prstGeom>
        </p:spPr>
      </p:pic>
      <p:sp>
        <p:nvSpPr>
          <p:cNvPr id="73" name="Text 15">
            <a:extLst>
              <a:ext uri="{FF2B5EF4-FFF2-40B4-BE49-F238E27FC236}">
                <a16:creationId xmlns:a16="http://schemas.microsoft.com/office/drawing/2014/main" id="{6D0C9308-3BEA-2999-957A-1AF56728E859}"/>
              </a:ext>
            </a:extLst>
          </p:cNvPr>
          <p:cNvSpPr/>
          <p:nvPr/>
        </p:nvSpPr>
        <p:spPr>
          <a:xfrm>
            <a:off x="5053432" y="34290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A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F5FC0846-4C20-5105-E671-6B939654D7CB}"/>
              </a:ext>
            </a:extLst>
          </p:cNvPr>
          <p:cNvSpPr/>
          <p:nvPr/>
        </p:nvSpPr>
        <p:spPr>
          <a:xfrm>
            <a:off x="5053432" y="3703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700" dirty="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2C824E55-D66E-656A-0DE0-3AAD150C08B0}"/>
              </a:ext>
            </a:extLst>
          </p:cNvPr>
          <p:cNvSpPr/>
          <p:nvPr/>
        </p:nvSpPr>
        <p:spPr>
          <a:xfrm>
            <a:off x="5099152" y="4192985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design, roadmap &amp; business case</a:t>
            </a:r>
            <a:endParaRPr lang="en-US" sz="1050" dirty="0"/>
          </a:p>
        </p:txBody>
      </p:sp>
      <p:sp>
        <p:nvSpPr>
          <p:cNvPr id="76" name="Shape 19">
            <a:extLst>
              <a:ext uri="{FF2B5EF4-FFF2-40B4-BE49-F238E27FC236}">
                <a16:creationId xmlns:a16="http://schemas.microsoft.com/office/drawing/2014/main" id="{04ED0FE9-76EC-9863-F446-5D86F2FDF764}"/>
              </a:ext>
            </a:extLst>
          </p:cNvPr>
          <p:cNvSpPr/>
          <p:nvPr/>
        </p:nvSpPr>
        <p:spPr>
          <a:xfrm>
            <a:off x="7924648" y="2423160"/>
            <a:ext cx="914400" cy="914400"/>
          </a:xfrm>
          <a:prstGeom prst="ellipse">
            <a:avLst/>
          </a:prstGeom>
          <a:solidFill>
            <a:srgbClr val="15233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7" name="Image 3" descr="/home/claude/icons/tools_white.png">
            <a:extLst>
              <a:ext uri="{FF2B5EF4-FFF2-40B4-BE49-F238E27FC236}">
                <a16:creationId xmlns:a16="http://schemas.microsoft.com/office/drawing/2014/main" id="{80D5B5B6-5BB1-05ED-F069-687AF37DB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248" y="2651760"/>
            <a:ext cx="457200" cy="457200"/>
          </a:xfrm>
          <a:prstGeom prst="rect">
            <a:avLst/>
          </a:prstGeom>
        </p:spPr>
      </p:pic>
      <p:sp>
        <p:nvSpPr>
          <p:cNvPr id="78" name="Text 20">
            <a:extLst>
              <a:ext uri="{FF2B5EF4-FFF2-40B4-BE49-F238E27FC236}">
                <a16:creationId xmlns:a16="http://schemas.microsoft.com/office/drawing/2014/main" id="{25B601E8-F4E5-3BE3-7F5D-DDBF7636666F}"/>
              </a:ext>
            </a:extLst>
          </p:cNvPr>
          <p:cNvSpPr/>
          <p:nvPr/>
        </p:nvSpPr>
        <p:spPr>
          <a:xfrm>
            <a:off x="7339432" y="34290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A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1F441EBB-2BD8-427A-3170-D4287DCC5D7B}"/>
              </a:ext>
            </a:extLst>
          </p:cNvPr>
          <p:cNvSpPr/>
          <p:nvPr/>
        </p:nvSpPr>
        <p:spPr>
          <a:xfrm>
            <a:off x="7339432" y="3703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80" name="Text 23">
            <a:extLst>
              <a:ext uri="{FF2B5EF4-FFF2-40B4-BE49-F238E27FC236}">
                <a16:creationId xmlns:a16="http://schemas.microsoft.com/office/drawing/2014/main" id="{B12D91B5-F254-1C24-3111-438EB52D113B}"/>
              </a:ext>
            </a:extLst>
          </p:cNvPr>
          <p:cNvSpPr/>
          <p:nvPr/>
        </p:nvSpPr>
        <p:spPr>
          <a:xfrm>
            <a:off x="7385152" y="4192985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SMED/line-balancing &amp; quick wins</a:t>
            </a:r>
            <a:endParaRPr lang="en-US" sz="1050" dirty="0"/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563ACD40-2387-6A60-A325-DD53938E083A}"/>
              </a:ext>
            </a:extLst>
          </p:cNvPr>
          <p:cNvSpPr/>
          <p:nvPr/>
        </p:nvSpPr>
        <p:spPr>
          <a:xfrm>
            <a:off x="10210648" y="2423160"/>
            <a:ext cx="914400" cy="914400"/>
          </a:xfrm>
          <a:prstGeom prst="ellipse">
            <a:avLst/>
          </a:prstGeom>
          <a:solidFill>
            <a:srgbClr val="C8A04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2" name="Image 4" descr="/home/claude/icons/check_white.png">
            <a:extLst>
              <a:ext uri="{FF2B5EF4-FFF2-40B4-BE49-F238E27FC236}">
                <a16:creationId xmlns:a16="http://schemas.microsoft.com/office/drawing/2014/main" id="{1A916C66-67AD-29EE-4FED-6988C67AE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248" y="2651760"/>
            <a:ext cx="457200" cy="457200"/>
          </a:xfrm>
          <a:prstGeom prst="rect">
            <a:avLst/>
          </a:prstGeom>
        </p:spPr>
      </p:pic>
      <p:sp>
        <p:nvSpPr>
          <p:cNvPr id="83" name="Text 25">
            <a:extLst>
              <a:ext uri="{FF2B5EF4-FFF2-40B4-BE49-F238E27FC236}">
                <a16:creationId xmlns:a16="http://schemas.microsoft.com/office/drawing/2014/main" id="{E6F5FDAA-DC8F-ADBA-FFB8-5217AFD6318A}"/>
              </a:ext>
            </a:extLst>
          </p:cNvPr>
          <p:cNvSpPr/>
          <p:nvPr/>
        </p:nvSpPr>
        <p:spPr>
          <a:xfrm>
            <a:off x="9625432" y="34290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A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F21F26A4-57EB-2A60-E672-B09CAFD10F6C}"/>
              </a:ext>
            </a:extLst>
          </p:cNvPr>
          <p:cNvSpPr/>
          <p:nvPr/>
        </p:nvSpPr>
        <p:spPr>
          <a:xfrm>
            <a:off x="9625432" y="3703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2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</a:t>
            </a:r>
            <a:endParaRPr lang="en-US" sz="1700" dirty="0"/>
          </a:p>
        </p:txBody>
      </p:sp>
      <p:sp>
        <p:nvSpPr>
          <p:cNvPr id="85" name="Text 28">
            <a:extLst>
              <a:ext uri="{FF2B5EF4-FFF2-40B4-BE49-F238E27FC236}">
                <a16:creationId xmlns:a16="http://schemas.microsoft.com/office/drawing/2014/main" id="{7BC85E39-21D7-424B-77CC-A46FE8637525}"/>
              </a:ext>
            </a:extLst>
          </p:cNvPr>
          <p:cNvSpPr/>
          <p:nvPr/>
        </p:nvSpPr>
        <p:spPr>
          <a:xfrm>
            <a:off x="9671152" y="4192985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KPI dashboards &amp; capability build</a:t>
            </a:r>
            <a:endParaRPr lang="en-US" sz="1050" dirty="0"/>
          </a:p>
        </p:txBody>
      </p:sp>
      <p:sp>
        <p:nvSpPr>
          <p:cNvPr id="86" name="Text 5">
            <a:extLst>
              <a:ext uri="{FF2B5EF4-FFF2-40B4-BE49-F238E27FC236}">
                <a16:creationId xmlns:a16="http://schemas.microsoft.com/office/drawing/2014/main" id="{AAE54744-10E3-7D3E-6B9A-B3EFCF7043CB}"/>
              </a:ext>
            </a:extLst>
          </p:cNvPr>
          <p:cNvSpPr/>
          <p:nvPr/>
        </p:nvSpPr>
        <p:spPr>
          <a:xfrm>
            <a:off x="481432" y="34290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A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pic>
        <p:nvPicPr>
          <p:cNvPr id="4" name="TPL Logo">
            <a:extLst>
              <a:ext uri="{FF2B5EF4-FFF2-40B4-BE49-F238E27FC236}">
                <a16:creationId xmlns:a16="http://schemas.microsoft.com/office/drawing/2014/main" id="{857A2C37-73D1-10A5-4226-762559679C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488" y="6367093"/>
            <a:ext cx="607423" cy="3628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E2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CONSULTING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improve your</a:t>
            </a:r>
            <a:endParaRPr lang="en-US" sz="4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factory's profitability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58368" y="3337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hidden capacity, productivity and profit.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58368" y="4160520"/>
            <a:ext cx="457200" cy="457200"/>
          </a:xfrm>
          <a:prstGeom prst="ellipse">
            <a:avLst/>
          </a:prstGeom>
          <a:solidFill>
            <a:srgbClr val="E2A23B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283964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4160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+91 84396 92259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58368" y="4764024"/>
            <a:ext cx="457200" cy="457200"/>
          </a:xfrm>
          <a:prstGeom prst="ellipse">
            <a:avLst/>
          </a:prstGeom>
          <a:solidFill>
            <a:srgbClr val="E2A23B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887468"/>
            <a:ext cx="210312" cy="2103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47640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tarunsharma301996@gmail.com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58368" y="5367528"/>
            <a:ext cx="457200" cy="457200"/>
          </a:xfrm>
          <a:prstGeom prst="ellipse">
            <a:avLst/>
          </a:prstGeom>
          <a:solidFill>
            <a:srgbClr val="E2A23B"/>
          </a:solidFill>
          <a:ln/>
          <a:effectLst>
            <a:outerShdw blurRad="76200" dist="254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5490972"/>
            <a:ext cx="210312" cy="21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53675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</a:t>
            </a:r>
            <a:r>
              <a:rPr lang="en-US" sz="16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inkedin.com/in/tarun-sharma-52ba6a15b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1133856" y="6199632"/>
            <a:ext cx="502920" cy="0"/>
          </a:xfrm>
          <a:prstGeom prst="line">
            <a:avLst/>
          </a:prstGeom>
          <a:noFill/>
          <a:ln w="27940">
            <a:solidFill>
              <a:srgbClr val="E2A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/>
          <p:nvPr/>
        </p:nvSpPr>
        <p:spPr>
          <a:xfrm>
            <a:off x="1115568" y="6309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 </a:t>
            </a:r>
            <a:r>
              <a:rPr lang="en-US" sz="115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Operational Excellence Consultant</a:t>
            </a:r>
            <a:endParaRPr lang="en-US" sz="14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89268B91-6143-3FEC-96A6-E9DC887B76AB}"/>
              </a:ext>
            </a:extLst>
          </p:cNvPr>
          <p:cNvSpPr/>
          <p:nvPr/>
        </p:nvSpPr>
        <p:spPr>
          <a:xfrm>
            <a:off x="10332720" y="777240"/>
            <a:ext cx="914400" cy="914400"/>
          </a:xfrm>
          <a:prstGeom prst="ellipse">
            <a:avLst/>
          </a:prstGeom>
          <a:solidFill>
            <a:srgbClr val="C8A04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0" descr="/home/claude/icons/handshake_navy.png">
            <a:extLst>
              <a:ext uri="{FF2B5EF4-FFF2-40B4-BE49-F238E27FC236}">
                <a16:creationId xmlns:a16="http://schemas.microsoft.com/office/drawing/2014/main" id="{8AC6C74D-F918-4B0D-3FC9-FF04F4B58A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8" y="987552"/>
            <a:ext cx="512064" cy="512064"/>
          </a:xfrm>
          <a:prstGeom prst="rect">
            <a:avLst/>
          </a:prstGeom>
        </p:spPr>
      </p:pic>
      <p:pic>
        <p:nvPicPr>
          <p:cNvPr id="2" name="TPL Logo">
            <a:extLst>
              <a:ext uri="{FF2B5EF4-FFF2-40B4-BE49-F238E27FC236}">
                <a16:creationId xmlns:a16="http://schemas.microsoft.com/office/drawing/2014/main" id="{4BC04284-4726-0F18-504F-06153C8957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04" y="6369429"/>
            <a:ext cx="630376" cy="3766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1030</Words>
  <Application>Microsoft Office PowerPoint</Application>
  <PresentationFormat>Widescreen</PresentationFormat>
  <Paragraphs>274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TPL Consulting — Unlocking Hidden Capacity, Productivity &amp; Profitability</dc:title>
  <dc:subject>PptxGenJS Presentation</dc:subject>
  <dc:creator>TPL Consulting</dc:creator>
  <cp:lastModifiedBy>Tarun Sharma</cp:lastModifiedBy>
  <cp:revision>8</cp:revision>
  <dcterms:created xsi:type="dcterms:W3CDTF">2026-06-17T10:43:25Z</dcterms:created>
  <dcterms:modified xsi:type="dcterms:W3CDTF">2026-07-05T11:47:00Z</dcterms:modified>
</cp:coreProperties>
</file>